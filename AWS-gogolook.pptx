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6" r:id="rId2"/>
    <p:sldId id="257" r:id="rId3"/>
    <p:sldId id="262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65150" autoAdjust="0"/>
  </p:normalViewPr>
  <p:slideViewPr>
    <p:cSldViewPr snapToGrid="0">
      <p:cViewPr varScale="1">
        <p:scale>
          <a:sx n="57" d="100"/>
          <a:sy n="57" d="100"/>
        </p:scale>
        <p:origin x="1392" y="42"/>
      </p:cViewPr>
      <p:guideLst/>
    </p:cSldViewPr>
  </p:slideViewPr>
  <p:notesTextViewPr>
    <p:cViewPr>
      <p:scale>
        <a:sx n="1" d="1"/>
        <a:sy n="1" d="1"/>
      </p:scale>
      <p:origin x="0" y="-429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1D0244-78F7-4C34-89F8-96FD29571962}" type="datetimeFigureOut">
              <a:rPr lang="zh-TW" altLang="en-US" smtClean="0"/>
              <a:t>2026/2/12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21080B-1999-4DBB-A50E-800CCE6D70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7882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專案名稱：</a:t>
            </a:r>
            <a:r>
              <a:rPr lang="en-US" altLang="zh-TW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Gogolook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Voice Guardian (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語音防詐守護者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設計理念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(Design Philosophy)</a:t>
            </a:r>
          </a:p>
          <a:p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本架構專為「數位弱勢族群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高齡者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低識字率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」設計。我們摒棄傳統複雜的文字輸入介面，採用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Serverless 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與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Container 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混合架構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，打造一個「零門檻、主動式」的防詐系統。核心目標是將「被動查詢」轉化為「主動阻斷」。 </a:t>
            </a:r>
          </a:p>
          <a:p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+1</a:t>
            </a:r>
          </a:p>
          <a:p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架構流程詳解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(Architecture Walkthrough)</a:t>
            </a:r>
          </a:p>
          <a:p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您可以配合您的架構圖，依照資料流向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(Data Flow)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分四個階段說明：</a:t>
            </a:r>
          </a:p>
          <a:p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Phase 1: 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感知與接入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(Presentation Layer)</a:t>
            </a:r>
            <a:endParaRPr lang="zh-TW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入口：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使用者透過託管於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Amazon S3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並由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Amazon CloudFront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加速的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React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前端介面進入。</a:t>
            </a:r>
          </a:p>
          <a:p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互動：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考量長輩操作不便，我們整合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Amazon Transcribe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實現「語音輸入」，長輩只需對手機說話或上傳截圖即可啟動檢測，極大化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便利性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 </a:t>
            </a:r>
          </a:p>
          <a:p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Phase 2: 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核心運算與調度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(Application Layer)</a:t>
            </a:r>
            <a:endParaRPr lang="zh-TW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大腦：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使用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Amazon API Gateway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作為統一入口，後端核心採用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AWS App Runner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部署容器化的 </a:t>
            </a:r>
            <a:r>
              <a:rPr lang="en-US" altLang="zh-TW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FastAPI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服務。</a:t>
            </a:r>
          </a:p>
          <a:p>
            <a:r>
              <a:rPr lang="en-US" altLang="zh-TW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Gogolook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聯防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第一道防線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在啟動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前，系統優先呼叫 </a:t>
            </a:r>
            <a:r>
              <a:rPr lang="en-US" altLang="zh-TW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Gogolook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APIs (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號碼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網址查詢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。若命中黑名單，則直接回傳風險警告，大幅降低運算成本與回應時間。 </a:t>
            </a:r>
          </a:p>
          <a:p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+1</a:t>
            </a:r>
          </a:p>
          <a:p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Phase 3: 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多模態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分析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(The Intelligence - Module A &amp; B)</a:t>
            </a:r>
            <a:endParaRPr lang="zh-TW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深度分析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第二道防線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若為未知號碼或複雜內容，系統將資料送入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Amazon Bedrock (Claude 3.5 Sonnet)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能力：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利用其多模態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(Multimodal)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能力，同時分析「詐騙簡訊截圖」、「通話語意」與「網址特徵」。 </a:t>
            </a:r>
          </a:p>
          <a:p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可解釋性：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模型被要求輸出「長輩聽得懂」的風險解釋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例如：「這不是銀行，這是假冒的」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，而非冷冰冰的分數。 </a:t>
            </a:r>
          </a:p>
          <a:p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Phase 4: 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主動阻斷與行動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(Data &amp; Action - Module C)</a:t>
            </a:r>
            <a:endParaRPr lang="zh-TW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數據儲存：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使用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Amazon DynamoDB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儲存使用者的高風險紀錄與緊急聯絡人清單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子女、里長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行動引導：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這是本架構的最大亮點。一旦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Bedrock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判定為高風險：</a:t>
            </a:r>
          </a:p>
          <a:p>
            <a:pPr lvl="1"/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觸發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Amazon Connect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自動撥打電話給使用者的子女或轄區派出所進行通報。 </a:t>
            </a:r>
          </a:p>
          <a:p>
            <a:pPr lvl="1"/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同時利用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Amazon Polly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合成語音，在前端即時用「說」的方式警告長輩停止轉帳。 </a:t>
            </a:r>
          </a:p>
          <a:p>
            <a:br>
              <a:rPr lang="zh-TW" altLang="en-US" dirty="0"/>
            </a:br>
            <a:endParaRPr lang="zh-TW" altLang="en-US" dirty="0"/>
          </a:p>
          <a:p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為何選擇這些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AWS 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服務？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技術決策點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在簡報或問答環節，評審可能會問「為什麼」，您可以這樣回答：</a:t>
            </a:r>
          </a:p>
          <a:p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AWS 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服務選擇理由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對應評分標準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)AWS App Runner</a:t>
            </a:r>
            <a:endParaRPr lang="zh-TW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支援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 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容器化部署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，讓開發團隊能快速將 </a:t>
            </a:r>
            <a:r>
              <a:rPr lang="en-US" altLang="zh-TW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FastAPI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應用落地，且具備自動擴展能力，符合「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MVP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可實現性」。 </a:t>
            </a:r>
          </a:p>
          <a:p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+1</a:t>
            </a:r>
          </a:p>
          <a:p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Amazon Bedrock</a:t>
            </a:r>
            <a:endParaRPr lang="zh-TW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提供單一介面呼叫多模態模型，解決了「詐騙圖檔分析」與「語意分析」的雙重需求，精準產出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可解釋證據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(Module B)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 </a:t>
            </a:r>
          </a:p>
          <a:p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+1</a:t>
            </a:r>
          </a:p>
          <a:p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Amazon Connect</a:t>
            </a:r>
            <a:endParaRPr lang="zh-TW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一般參賽者只做「顯示警告」，我們選擇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Connect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做到真正的**「行動阻斷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(Module C)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」**，主動撥號能有效防止長輩在慌亂中受騙。 </a:t>
            </a:r>
          </a:p>
          <a:p>
            <a:r>
              <a:rPr lang="en-US" altLang="zh-TW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Gogolook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API</a:t>
            </a:r>
            <a:endParaRPr lang="zh-TW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我們將 </a:t>
            </a:r>
            <a:r>
              <a:rPr lang="en-US" altLang="zh-TW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Gogolook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的資料庫視為「快取層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(Cache Layer)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」，在動用昂貴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算力前先查黑名單，展現了對</a:t>
            </a:r>
            <a:r>
              <a:rPr lang="en-US" altLang="zh-TW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Gogolook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資源的有效運用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 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80B-1999-4DBB-A50E-800CCE6D7005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83644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DF002-8C84-49BF-9917-1733966FF310}" type="datetimeFigureOut">
              <a:rPr lang="zh-TW" altLang="en-US" smtClean="0"/>
              <a:t>2026/2/12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33BB5-651E-473C-95AB-353771E204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2497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DF002-8C84-49BF-9917-1733966FF310}" type="datetimeFigureOut">
              <a:rPr lang="zh-TW" altLang="en-US" smtClean="0"/>
              <a:t>2026/2/12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33BB5-651E-473C-95AB-353771E204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1132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DF002-8C84-49BF-9917-1733966FF310}" type="datetimeFigureOut">
              <a:rPr lang="zh-TW" altLang="en-US" smtClean="0"/>
              <a:t>2026/2/12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33BB5-651E-473C-95AB-353771E204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0842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DF002-8C84-49BF-9917-1733966FF310}" type="datetimeFigureOut">
              <a:rPr lang="zh-TW" altLang="en-US" smtClean="0"/>
              <a:t>2026/2/12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33BB5-651E-473C-95AB-353771E204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6292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DF002-8C84-49BF-9917-1733966FF310}" type="datetimeFigureOut">
              <a:rPr lang="zh-TW" altLang="en-US" smtClean="0"/>
              <a:t>2026/2/12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33BB5-651E-473C-95AB-353771E204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2963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DF002-8C84-49BF-9917-1733966FF310}" type="datetimeFigureOut">
              <a:rPr lang="zh-TW" altLang="en-US" smtClean="0"/>
              <a:t>2026/2/12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33BB5-651E-473C-95AB-353771E204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3810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DF002-8C84-49BF-9917-1733966FF310}" type="datetimeFigureOut">
              <a:rPr lang="zh-TW" altLang="en-US" smtClean="0"/>
              <a:t>2026/2/12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33BB5-651E-473C-95AB-353771E204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3588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DF002-8C84-49BF-9917-1733966FF310}" type="datetimeFigureOut">
              <a:rPr lang="zh-TW" altLang="en-US" smtClean="0"/>
              <a:t>2026/2/12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33BB5-651E-473C-95AB-353771E204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5806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DF002-8C84-49BF-9917-1733966FF310}" type="datetimeFigureOut">
              <a:rPr lang="zh-TW" altLang="en-US" smtClean="0"/>
              <a:t>2026/2/12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33BB5-651E-473C-95AB-353771E204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4482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DF002-8C84-49BF-9917-1733966FF310}" type="datetimeFigureOut">
              <a:rPr lang="zh-TW" altLang="en-US" smtClean="0"/>
              <a:t>2026/2/12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33BB5-651E-473C-95AB-353771E204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6593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DF002-8C84-49BF-9917-1733966FF310}" type="datetimeFigureOut">
              <a:rPr lang="zh-TW" altLang="en-US" smtClean="0"/>
              <a:t>2026/2/12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33BB5-651E-473C-95AB-353771E204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4568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AE3DF002-8C84-49BF-9917-1733966FF310}" type="datetimeFigureOut">
              <a:rPr lang="zh-TW" altLang="en-US" smtClean="0"/>
              <a:t>2026/2/12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B1C33BB5-651E-473C-95AB-353771E204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49591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2CE70D89-589A-F29E-58FC-41255577CC99}"/>
              </a:ext>
            </a:extLst>
          </p:cNvPr>
          <p:cNvSpPr txBox="1"/>
          <p:nvPr/>
        </p:nvSpPr>
        <p:spPr>
          <a:xfrm>
            <a:off x="3634597" y="2890391"/>
            <a:ext cx="49228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6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Gogolook</a:t>
            </a:r>
            <a:endParaRPr lang="zh-TW" altLang="en-US" sz="6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81701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1F671-F64A-095F-F2C1-D54F59B77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群組 35">
            <a:extLst>
              <a:ext uri="{FF2B5EF4-FFF2-40B4-BE49-F238E27FC236}">
                <a16:creationId xmlns:a16="http://schemas.microsoft.com/office/drawing/2014/main" id="{1204D187-7937-7E3D-B155-18897F878BD5}"/>
              </a:ext>
            </a:extLst>
          </p:cNvPr>
          <p:cNvGrpSpPr/>
          <p:nvPr/>
        </p:nvGrpSpPr>
        <p:grpSpPr>
          <a:xfrm>
            <a:off x="1213862" y="304800"/>
            <a:ext cx="10673338" cy="6272186"/>
            <a:chOff x="4135438" y="1254098"/>
            <a:chExt cx="7815262" cy="4592638"/>
          </a:xfrm>
        </p:grpSpPr>
        <p:grpSp>
          <p:nvGrpSpPr>
            <p:cNvPr id="6" name="AWSCloudGroup" descr="AWS Cloud group.">
              <a:extLst>
                <a:ext uri="{FF2B5EF4-FFF2-40B4-BE49-F238E27FC236}">
                  <a16:creationId xmlns:a16="http://schemas.microsoft.com/office/drawing/2014/main" id="{D8DDFBA9-9266-6864-6D41-F5CB386823C2}"/>
                </a:ext>
              </a:extLst>
            </p:cNvPr>
            <p:cNvGrpSpPr/>
            <p:nvPr/>
          </p:nvGrpSpPr>
          <p:grpSpPr>
            <a:xfrm>
              <a:off x="4135438" y="1254098"/>
              <a:ext cx="7815262" cy="4592638"/>
              <a:chOff x="4135438" y="1254098"/>
              <a:chExt cx="7815262" cy="4592638"/>
            </a:xfrm>
          </p:grpSpPr>
          <p:sp>
            <p:nvSpPr>
              <p:cNvPr id="7" name="Rectangle 9" descr="Group border and label">
                <a:extLst>
                  <a:ext uri="{FF2B5EF4-FFF2-40B4-BE49-F238E27FC236}">
                    <a16:creationId xmlns:a16="http://schemas.microsoft.com/office/drawing/2014/main" id="{1720DC40-F781-ECE5-1A8B-31709DEAFE5B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SpPr/>
              <p:nvPr/>
            </p:nvSpPr>
            <p:spPr>
              <a:xfrm>
                <a:off x="4135438" y="1254098"/>
                <a:ext cx="7815262" cy="4592638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502920" tIns="9144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AWS Cloud</a:t>
                </a:r>
              </a:p>
            </p:txBody>
          </p:sp>
          <p:pic>
            <p:nvPicPr>
              <p:cNvPr id="8" name="Graphic 10" descr="AWS logo in group.">
                <a:extLst>
                  <a:ext uri="{FF2B5EF4-FFF2-40B4-BE49-F238E27FC236}">
                    <a16:creationId xmlns:a16="http://schemas.microsoft.com/office/drawing/2014/main" id="{316CBBB6-9F5D-E6E9-FC1F-49D3033A3A53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>
                <a:off x="4135438" y="1254098"/>
                <a:ext cx="381000" cy="381000"/>
              </a:xfrm>
              <a:prstGeom prst="rect">
                <a:avLst/>
              </a:prstGeom>
            </p:spPr>
          </p:pic>
        </p:grpSp>
        <p:grpSp>
          <p:nvGrpSpPr>
            <p:cNvPr id="9" name="VPCGroup" descr="Virtual private cloud (VPC) group inside the AWS Cloud grouping.">
              <a:extLst>
                <a:ext uri="{FF2B5EF4-FFF2-40B4-BE49-F238E27FC236}">
                  <a16:creationId xmlns:a16="http://schemas.microsoft.com/office/drawing/2014/main" id="{36DD7DB1-B231-67BE-AA10-0A9E10FB296C}"/>
                </a:ext>
              </a:extLst>
            </p:cNvPr>
            <p:cNvGrpSpPr/>
            <p:nvPr/>
          </p:nvGrpSpPr>
          <p:grpSpPr>
            <a:xfrm>
              <a:off x="4356100" y="2084361"/>
              <a:ext cx="7366000" cy="3386137"/>
              <a:chOff x="4356100" y="2084361"/>
              <a:chExt cx="7366000" cy="3386137"/>
            </a:xfrm>
          </p:grpSpPr>
          <p:sp>
            <p:nvSpPr>
              <p:cNvPr id="10" name="Rectangle 16" descr="VPC group border">
                <a:extLst>
                  <a:ext uri="{FF2B5EF4-FFF2-40B4-BE49-F238E27FC236}">
                    <a16:creationId xmlns:a16="http://schemas.microsoft.com/office/drawing/2014/main" id="{5C6EF74C-3D3E-C4FF-4E18-A5690DDC7787}"/>
                  </a:ext>
                </a:extLst>
              </p:cNvPr>
              <p:cNvSpPr/>
              <p:nvPr/>
            </p:nvSpPr>
            <p:spPr>
              <a:xfrm>
                <a:off x="4356100" y="2089123"/>
                <a:ext cx="7366000" cy="3381375"/>
              </a:xfrm>
              <a:prstGeom prst="rect">
                <a:avLst/>
              </a:prstGeom>
              <a:noFill/>
              <a:ln w="15875">
                <a:solidFill>
                  <a:srgbClr val="8C4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502920" tIns="9144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 dirty="0">
                    <a:ln w="0"/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Virtual private cloud (VPC)</a:t>
                </a:r>
              </a:p>
            </p:txBody>
          </p:sp>
          <p:pic>
            <p:nvPicPr>
              <p:cNvPr id="11" name="Graphic 17" descr="VPC group icon.">
                <a:extLst>
                  <a:ext uri="{FF2B5EF4-FFF2-40B4-BE49-F238E27FC236}">
                    <a16:creationId xmlns:a16="http://schemas.microsoft.com/office/drawing/2014/main" id="{9BB74847-C74C-1131-37F9-641672CDEC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/>
            </p:blipFill>
            <p:spPr>
              <a:xfrm>
                <a:off x="4356100" y="2084361"/>
                <a:ext cx="381000" cy="381000"/>
              </a:xfrm>
              <a:prstGeom prst="rect">
                <a:avLst/>
              </a:prstGeom>
            </p:spPr>
          </p:pic>
        </p:grp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75ABA8B6-8699-3905-9759-5CBF0EDFDC3F}"/>
                </a:ext>
              </a:extLst>
            </p:cNvPr>
            <p:cNvSpPr txBox="1"/>
            <p:nvPr/>
          </p:nvSpPr>
          <p:spPr>
            <a:xfrm>
              <a:off x="4737100" y="1254098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1800" dirty="0">
                  <a:latin typeface="Arial" panose="020B0604020202020204" pitchFamily="34" charset="0"/>
                  <a:cs typeface="Arial" panose="020B0604020202020204" pitchFamily="34" charset="0"/>
                </a:rPr>
                <a:t>AWS Cloud</a:t>
              </a:r>
            </a:p>
          </p:txBody>
        </p: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1549A3F0-4D58-7A5C-0758-D310B3767D28}"/>
                </a:ext>
              </a:extLst>
            </p:cNvPr>
            <p:cNvSpPr txBox="1"/>
            <p:nvPr/>
          </p:nvSpPr>
          <p:spPr>
            <a:xfrm>
              <a:off x="4957762" y="2084361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1800" dirty="0">
                  <a:ln w="0"/>
                  <a:latin typeface="Arial" panose="020B0604020202020204" pitchFamily="34" charset="0"/>
                  <a:cs typeface="Arial" panose="020B0604020202020204" pitchFamily="34" charset="0"/>
                </a:rPr>
                <a:t>Virtual private cloud (VPC)</a:t>
              </a:r>
            </a:p>
          </p:txBody>
        </p:sp>
      </p:grpSp>
      <p:pic>
        <p:nvPicPr>
          <p:cNvPr id="37" name="Graphic 22" descr="User resource icon for the General Icons category.">
            <a:extLst>
              <a:ext uri="{FF2B5EF4-FFF2-40B4-BE49-F238E27FC236}">
                <a16:creationId xmlns:a16="http://schemas.microsoft.com/office/drawing/2014/main" id="{756A4DE4-357E-043C-6D33-7CF42EC31F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 bwMode="auto">
          <a:xfrm>
            <a:off x="315709" y="320675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" name="TextBox 39">
            <a:extLst>
              <a:ext uri="{FF2B5EF4-FFF2-40B4-BE49-F238E27FC236}">
                <a16:creationId xmlns:a16="http://schemas.microsoft.com/office/drawing/2014/main" id="{62890B67-1B01-D37A-9905-F713B92A9A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742525"/>
            <a:ext cx="10731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User</a:t>
            </a:r>
          </a:p>
        </p:txBody>
      </p:sp>
      <p:cxnSp>
        <p:nvCxnSpPr>
          <p:cNvPr id="39" name="Straight Arrow Connector 15" descr="Arrow pointing from Third party Git repository to the AWS lambda service. ">
            <a:extLst>
              <a:ext uri="{FF2B5EF4-FFF2-40B4-BE49-F238E27FC236}">
                <a16:creationId xmlns:a16="http://schemas.microsoft.com/office/drawing/2014/main" id="{18DC5B06-132D-D375-7F9F-B89818B44BB3}"/>
              </a:ext>
            </a:extLst>
          </p:cNvPr>
          <p:cNvCxnSpPr>
            <a:cxnSpLocks/>
          </p:cNvCxnSpPr>
          <p:nvPr/>
        </p:nvCxnSpPr>
        <p:spPr>
          <a:xfrm>
            <a:off x="859411" y="3429000"/>
            <a:ext cx="1236089" cy="0"/>
          </a:xfrm>
          <a:prstGeom prst="straightConnector1">
            <a:avLst/>
          </a:prstGeom>
          <a:ln w="15875">
            <a:solidFill>
              <a:srgbClr val="9BA7B6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16" descr="VPC group border">
            <a:extLst>
              <a:ext uri="{FF2B5EF4-FFF2-40B4-BE49-F238E27FC236}">
                <a16:creationId xmlns:a16="http://schemas.microsoft.com/office/drawing/2014/main" id="{45B3E2D7-3921-9AA4-29CF-01ABFB3338CF}"/>
              </a:ext>
            </a:extLst>
          </p:cNvPr>
          <p:cNvSpPr/>
          <p:nvPr/>
        </p:nvSpPr>
        <p:spPr>
          <a:xfrm>
            <a:off x="1775387" y="2425673"/>
            <a:ext cx="2160000" cy="3240000"/>
          </a:xfrm>
          <a:prstGeom prst="rect">
            <a:avLst/>
          </a:prstGeom>
          <a:noFill/>
          <a:ln w="158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ln w="0"/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Virtual private cloud (VPC)</a:t>
            </a: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A6B76627-C7EB-1ACB-04C1-57D82F659B73}"/>
              </a:ext>
            </a:extLst>
          </p:cNvPr>
          <p:cNvSpPr txBox="1"/>
          <p:nvPr/>
        </p:nvSpPr>
        <p:spPr>
          <a:xfrm>
            <a:off x="1811899" y="2435794"/>
            <a:ext cx="22923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1800" dirty="0">
                <a:ln w="0"/>
                <a:latin typeface="Arial" panose="020B0604020202020204" pitchFamily="34" charset="0"/>
                <a:cs typeface="Arial" panose="020B0604020202020204" pitchFamily="34" charset="0"/>
              </a:rPr>
              <a:t>Presentation Layer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dirty="0">
                <a:ln w="0"/>
                <a:latin typeface="Arial" panose="020B0604020202020204" pitchFamily="34" charset="0"/>
                <a:cs typeface="Arial" panose="020B0604020202020204" pitchFamily="34" charset="0"/>
              </a:rPr>
              <a:t>(Fronted)</a:t>
            </a:r>
            <a:endParaRPr lang="en-US" altLang="zh-TW" sz="1800" dirty="0">
              <a:ln w="0"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3" name="Graphic 19" descr="Amazon CloudFront service icon.">
            <a:extLst>
              <a:ext uri="{FF2B5EF4-FFF2-40B4-BE49-F238E27FC236}">
                <a16:creationId xmlns:a16="http://schemas.microsoft.com/office/drawing/2014/main" id="{9B54BAD4-B6E1-9308-1F76-C230F13F38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 bwMode="auto">
          <a:xfrm>
            <a:off x="2424675" y="3082125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" name="TextBox 11">
            <a:extLst>
              <a:ext uri="{FF2B5EF4-FFF2-40B4-BE49-F238E27FC236}">
                <a16:creationId xmlns:a16="http://schemas.microsoft.com/office/drawing/2014/main" id="{ADF4F9D2-DF02-62A5-3BD3-77E184B616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9025" y="3844125"/>
            <a:ext cx="22923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CloudFront</a:t>
            </a:r>
          </a:p>
        </p:txBody>
      </p:sp>
      <p:pic>
        <p:nvPicPr>
          <p:cNvPr id="45" name="Graphic 8" descr="Amazon Simple Storage Service (Amazon S3) service icon.">
            <a:extLst>
              <a:ext uri="{FF2B5EF4-FFF2-40B4-BE49-F238E27FC236}">
                <a16:creationId xmlns:a16="http://schemas.microsoft.com/office/drawing/2014/main" id="{B512A5D3-16A5-F967-1E04-BF58254486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 bwMode="auto">
          <a:xfrm>
            <a:off x="2461188" y="4298150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" name="TextBox 9">
            <a:extLst>
              <a:ext uri="{FF2B5EF4-FFF2-40B4-BE49-F238E27FC236}">
                <a16:creationId xmlns:a16="http://schemas.microsoft.com/office/drawing/2014/main" id="{889441DE-E442-BBA5-DFAC-686819FCF7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1413" y="5061737"/>
            <a:ext cx="22399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Simple Storage Service (Amazon S3)</a:t>
            </a:r>
          </a:p>
        </p:txBody>
      </p:sp>
      <p:cxnSp>
        <p:nvCxnSpPr>
          <p:cNvPr id="74" name="Straight Arrow Connector 15" descr="Arrow pointing from Third party Git repository to the AWS lambda service. ">
            <a:extLst>
              <a:ext uri="{FF2B5EF4-FFF2-40B4-BE49-F238E27FC236}">
                <a16:creationId xmlns:a16="http://schemas.microsoft.com/office/drawing/2014/main" id="{AF73183A-D7B4-5B4C-F722-EFA2CC2C9A4E}"/>
              </a:ext>
            </a:extLst>
          </p:cNvPr>
          <p:cNvCxnSpPr>
            <a:cxnSpLocks/>
          </p:cNvCxnSpPr>
          <p:nvPr/>
        </p:nvCxnSpPr>
        <p:spPr>
          <a:xfrm>
            <a:off x="3425169" y="3446641"/>
            <a:ext cx="1327903" cy="12397"/>
          </a:xfrm>
          <a:prstGeom prst="straightConnector1">
            <a:avLst/>
          </a:prstGeom>
          <a:ln w="15875">
            <a:solidFill>
              <a:srgbClr val="9BA7B6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16" descr="VPC group border">
            <a:extLst>
              <a:ext uri="{FF2B5EF4-FFF2-40B4-BE49-F238E27FC236}">
                <a16:creationId xmlns:a16="http://schemas.microsoft.com/office/drawing/2014/main" id="{64CFEC9D-C506-3771-B8B5-6C3772912CBF}"/>
              </a:ext>
            </a:extLst>
          </p:cNvPr>
          <p:cNvSpPr/>
          <p:nvPr/>
        </p:nvSpPr>
        <p:spPr>
          <a:xfrm>
            <a:off x="4266346" y="2425672"/>
            <a:ext cx="2160000" cy="3240000"/>
          </a:xfrm>
          <a:prstGeom prst="rect">
            <a:avLst/>
          </a:prstGeom>
          <a:noFill/>
          <a:ln w="158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ln w="0"/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Virtual private cloud (VPC)</a:t>
            </a:r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ABD90593-CF41-C448-163F-E0258F4F340E}"/>
              </a:ext>
            </a:extLst>
          </p:cNvPr>
          <p:cNvSpPr txBox="1"/>
          <p:nvPr/>
        </p:nvSpPr>
        <p:spPr>
          <a:xfrm>
            <a:off x="4301622" y="2435370"/>
            <a:ext cx="19912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dirty="0">
                <a:ln w="0"/>
                <a:latin typeface="Arial" panose="020B0604020202020204" pitchFamily="34" charset="0"/>
                <a:cs typeface="Arial" panose="020B0604020202020204" pitchFamily="34" charset="0"/>
              </a:rPr>
              <a:t>Applic</a:t>
            </a:r>
            <a:r>
              <a:rPr lang="en-US" altLang="zh-TW" sz="1800" dirty="0">
                <a:ln w="0"/>
                <a:latin typeface="Arial" panose="020B0604020202020204" pitchFamily="34" charset="0"/>
                <a:cs typeface="Arial" panose="020B0604020202020204" pitchFamily="34" charset="0"/>
              </a:rPr>
              <a:t>ation Layer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dirty="0">
                <a:ln w="0"/>
                <a:latin typeface="Arial" panose="020B0604020202020204" pitchFamily="34" charset="0"/>
                <a:cs typeface="Arial" panose="020B0604020202020204" pitchFamily="34" charset="0"/>
              </a:rPr>
              <a:t>(Backend)</a:t>
            </a:r>
            <a:endParaRPr lang="en-US" altLang="zh-TW" sz="1800" dirty="0">
              <a:ln w="0"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0" name="Graphic 7" descr="Amazon API Gateway service icon.">
            <a:extLst>
              <a:ext uri="{FF2B5EF4-FFF2-40B4-BE49-F238E27FC236}">
                <a16:creationId xmlns:a16="http://schemas.microsoft.com/office/drawing/2014/main" id="{D1B3FD69-C816-7887-5088-6FAA29754F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 bwMode="auto">
          <a:xfrm>
            <a:off x="4988875" y="3054653"/>
            <a:ext cx="736214" cy="730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" name="TextBox 9">
            <a:extLst>
              <a:ext uri="{FF2B5EF4-FFF2-40B4-BE49-F238E27FC236}">
                <a16:creationId xmlns:a16="http://schemas.microsoft.com/office/drawing/2014/main" id="{9BD1A719-DD5E-DF26-055F-281F8E9ADD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4134" y="3784794"/>
            <a:ext cx="2167231" cy="26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API Gateway</a:t>
            </a:r>
          </a:p>
        </p:txBody>
      </p:sp>
      <p:pic>
        <p:nvPicPr>
          <p:cNvPr id="72" name="Graphic 7" descr="AWS App Runner service icon.">
            <a:extLst>
              <a:ext uri="{FF2B5EF4-FFF2-40B4-BE49-F238E27FC236}">
                <a16:creationId xmlns:a16="http://schemas.microsoft.com/office/drawing/2014/main" id="{DD1692D8-2590-6335-25AE-C27930D016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 bwMode="auto">
          <a:xfrm>
            <a:off x="4998078" y="4581640"/>
            <a:ext cx="736214" cy="730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" name="TextBox 18">
            <a:extLst>
              <a:ext uri="{FF2B5EF4-FFF2-40B4-BE49-F238E27FC236}">
                <a16:creationId xmlns:a16="http://schemas.microsoft.com/office/drawing/2014/main" id="{EF3123CC-D43B-32A7-B5BB-ECFE82023F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4134" y="5313301"/>
            <a:ext cx="2167231" cy="26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App Runner</a:t>
            </a:r>
          </a:p>
        </p:txBody>
      </p:sp>
      <p:cxnSp>
        <p:nvCxnSpPr>
          <p:cNvPr id="76" name="Straight Arrow Connector 15" descr="Arrow pointing from Third party Git repository to the AWS lambda service. ">
            <a:extLst>
              <a:ext uri="{FF2B5EF4-FFF2-40B4-BE49-F238E27FC236}">
                <a16:creationId xmlns:a16="http://schemas.microsoft.com/office/drawing/2014/main" id="{B9F86D85-B658-F19F-3AEA-91A19D43EC29}"/>
              </a:ext>
            </a:extLst>
          </p:cNvPr>
          <p:cNvCxnSpPr>
            <a:cxnSpLocks/>
          </p:cNvCxnSpPr>
          <p:nvPr/>
        </p:nvCxnSpPr>
        <p:spPr>
          <a:xfrm>
            <a:off x="5373311" y="4019072"/>
            <a:ext cx="0" cy="428191"/>
          </a:xfrm>
          <a:prstGeom prst="straightConnector1">
            <a:avLst/>
          </a:prstGeom>
          <a:ln w="15875">
            <a:solidFill>
              <a:srgbClr val="9BA7B6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6" name="群組 125">
            <a:extLst>
              <a:ext uri="{FF2B5EF4-FFF2-40B4-BE49-F238E27FC236}">
                <a16:creationId xmlns:a16="http://schemas.microsoft.com/office/drawing/2014/main" id="{A6596C55-2887-3E48-BF68-E327A7A7C254}"/>
              </a:ext>
            </a:extLst>
          </p:cNvPr>
          <p:cNvGrpSpPr/>
          <p:nvPr/>
        </p:nvGrpSpPr>
        <p:grpSpPr>
          <a:xfrm>
            <a:off x="6662149" y="1604821"/>
            <a:ext cx="5136162" cy="1830529"/>
            <a:chOff x="1022155" y="893621"/>
            <a:chExt cx="5136162" cy="1830529"/>
          </a:xfrm>
        </p:grpSpPr>
        <p:pic>
          <p:nvPicPr>
            <p:cNvPr id="127" name="Graphic 20" descr="Amazon Transcribe service icon.">
              <a:extLst>
                <a:ext uri="{FF2B5EF4-FFF2-40B4-BE49-F238E27FC236}">
                  <a16:creationId xmlns:a16="http://schemas.microsoft.com/office/drawing/2014/main" id="{FC3DD9C8-CB22-F78F-2DAB-C7CC34D602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p:blipFill>
          <p:spPr bwMode="auto">
            <a:xfrm>
              <a:off x="1771455" y="1533681"/>
              <a:ext cx="762000" cy="76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8" name="TextBox 12">
              <a:extLst>
                <a:ext uri="{FF2B5EF4-FFF2-40B4-BE49-F238E27FC236}">
                  <a16:creationId xmlns:a16="http://schemas.microsoft.com/office/drawing/2014/main" id="{0467788E-4990-719A-08BC-519428794C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2155" y="2295681"/>
              <a:ext cx="227965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Amazon Transcribe</a:t>
              </a:r>
            </a:p>
          </p:txBody>
        </p:sp>
        <p:pic>
          <p:nvPicPr>
            <p:cNvPr id="129" name="Graphic 6" descr="Amazon Bedrock service icon.">
              <a:extLst>
                <a:ext uri="{FF2B5EF4-FFF2-40B4-BE49-F238E27FC236}">
                  <a16:creationId xmlns:a16="http://schemas.microsoft.com/office/drawing/2014/main" id="{C4A25FA3-8A23-BC09-3898-528FD312806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/>
          </p:blipFill>
          <p:spPr>
            <a:xfrm>
              <a:off x="3224799" y="1532094"/>
              <a:ext cx="762000" cy="762000"/>
            </a:xfrm>
            <a:prstGeom prst="rect">
              <a:avLst/>
            </a:prstGeom>
          </p:spPr>
        </p:pic>
        <p:sp>
          <p:nvSpPr>
            <p:cNvPr id="130" name="TextBox 12">
              <a:extLst>
                <a:ext uri="{FF2B5EF4-FFF2-40B4-BE49-F238E27FC236}">
                  <a16:creationId xmlns:a16="http://schemas.microsoft.com/office/drawing/2014/main" id="{CE52AB15-2335-7641-F812-B339B52A81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59227" y="2295681"/>
              <a:ext cx="2278851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Amazon Bedrock</a:t>
              </a:r>
            </a:p>
          </p:txBody>
        </p:sp>
        <p:pic>
          <p:nvPicPr>
            <p:cNvPr id="131" name="Graphic 8" descr="Amazon Polly service icon.">
              <a:extLst>
                <a:ext uri="{FF2B5EF4-FFF2-40B4-BE49-F238E27FC236}">
                  <a16:creationId xmlns:a16="http://schemas.microsoft.com/office/drawing/2014/main" id="{8B4A90DB-D775-8E3D-2A4E-E593AD2C68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rcRect/>
            <a:stretch/>
          </p:blipFill>
          <p:spPr bwMode="auto">
            <a:xfrm>
              <a:off x="4623204" y="1532094"/>
              <a:ext cx="762000" cy="76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2" name="TextBox 11">
              <a:extLst>
                <a:ext uri="{FF2B5EF4-FFF2-40B4-BE49-F238E27FC236}">
                  <a16:creationId xmlns:a16="http://schemas.microsoft.com/office/drawing/2014/main" id="{68228CE8-09D0-D0AC-20E5-12D541B9FD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5967" y="2295681"/>
              <a:ext cx="229235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Amazon Polly</a:t>
              </a:r>
            </a:p>
          </p:txBody>
        </p:sp>
        <p:sp>
          <p:nvSpPr>
            <p:cNvPr id="133" name="Rectangle 16" descr="VPC group border">
              <a:extLst>
                <a:ext uri="{FF2B5EF4-FFF2-40B4-BE49-F238E27FC236}">
                  <a16:creationId xmlns:a16="http://schemas.microsoft.com/office/drawing/2014/main" id="{43F446D0-3B6B-F51B-63AD-5CDBA923F681}"/>
                </a:ext>
              </a:extLst>
            </p:cNvPr>
            <p:cNvSpPr/>
            <p:nvPr/>
          </p:nvSpPr>
          <p:spPr>
            <a:xfrm>
              <a:off x="1211842" y="893621"/>
              <a:ext cx="4585708" cy="1830529"/>
            </a:xfrm>
            <a:prstGeom prst="rect">
              <a:avLst/>
            </a:prstGeom>
            <a:noFill/>
            <a:ln w="158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ln w="0"/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PC)</a:t>
              </a:r>
            </a:p>
          </p:txBody>
        </p:sp>
        <p:sp>
          <p:nvSpPr>
            <p:cNvPr id="134" name="文字方塊 133">
              <a:extLst>
                <a:ext uri="{FF2B5EF4-FFF2-40B4-BE49-F238E27FC236}">
                  <a16:creationId xmlns:a16="http://schemas.microsoft.com/office/drawing/2014/main" id="{29CC27DF-9070-C806-D795-38EAF76F8606}"/>
                </a:ext>
              </a:extLst>
            </p:cNvPr>
            <p:cNvSpPr txBox="1"/>
            <p:nvPr/>
          </p:nvSpPr>
          <p:spPr>
            <a:xfrm>
              <a:off x="1261086" y="893621"/>
              <a:ext cx="191291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1800" dirty="0">
                  <a:ln w="0"/>
                  <a:latin typeface="Arial" panose="020B0604020202020204" pitchFamily="34" charset="0"/>
                  <a:cs typeface="Arial" panose="020B0604020202020204" pitchFamily="34" charset="0"/>
                </a:rPr>
                <a:t>The Intelligence</a:t>
              </a:r>
            </a:p>
          </p:txBody>
        </p:sp>
      </p:grpSp>
      <p:sp>
        <p:nvSpPr>
          <p:cNvPr id="135" name="Rectangle 16" descr="VPC group border">
            <a:extLst>
              <a:ext uri="{FF2B5EF4-FFF2-40B4-BE49-F238E27FC236}">
                <a16:creationId xmlns:a16="http://schemas.microsoft.com/office/drawing/2014/main" id="{98A1A96F-8077-6790-2F1C-608414F2C241}"/>
              </a:ext>
            </a:extLst>
          </p:cNvPr>
          <p:cNvSpPr/>
          <p:nvPr/>
        </p:nvSpPr>
        <p:spPr>
          <a:xfrm>
            <a:off x="6833469" y="4069083"/>
            <a:ext cx="4585708" cy="1830529"/>
          </a:xfrm>
          <a:prstGeom prst="rect">
            <a:avLst/>
          </a:prstGeom>
          <a:noFill/>
          <a:ln w="15875"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ln w="0"/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PC)</a:t>
            </a:r>
          </a:p>
        </p:txBody>
      </p:sp>
      <p:sp>
        <p:nvSpPr>
          <p:cNvPr id="136" name="文字方塊 135">
            <a:extLst>
              <a:ext uri="{FF2B5EF4-FFF2-40B4-BE49-F238E27FC236}">
                <a16:creationId xmlns:a16="http://schemas.microsoft.com/office/drawing/2014/main" id="{D85124AE-1CC9-9EB3-D047-0ADE2318BBB2}"/>
              </a:ext>
            </a:extLst>
          </p:cNvPr>
          <p:cNvSpPr txBox="1"/>
          <p:nvPr/>
        </p:nvSpPr>
        <p:spPr>
          <a:xfrm>
            <a:off x="6856914" y="4080751"/>
            <a:ext cx="19129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1800" dirty="0">
                <a:ln w="0"/>
                <a:latin typeface="Arial" panose="020B0604020202020204" pitchFamily="34" charset="0"/>
                <a:cs typeface="Arial" panose="020B0604020202020204" pitchFamily="34" charset="0"/>
              </a:rPr>
              <a:t>Data &amp; Action</a:t>
            </a:r>
          </a:p>
        </p:txBody>
      </p:sp>
      <p:pic>
        <p:nvPicPr>
          <p:cNvPr id="137" name="Graphic 23" descr="Amazon DynamoDB service icon.">
            <a:extLst>
              <a:ext uri="{FF2B5EF4-FFF2-40B4-BE49-F238E27FC236}">
                <a16:creationId xmlns:a16="http://schemas.microsoft.com/office/drawing/2014/main" id="{336B7E20-154C-36EC-70F8-76B814F6CF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/>
        </p:blipFill>
        <p:spPr bwMode="auto">
          <a:xfrm>
            <a:off x="7581181" y="4654554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8" name="TextBox 12">
            <a:extLst>
              <a:ext uri="{FF2B5EF4-FFF2-40B4-BE49-F238E27FC236}">
                <a16:creationId xmlns:a16="http://schemas.microsoft.com/office/drawing/2014/main" id="{E1363E2E-8951-2078-F1E5-46B6199A6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3469" y="5418141"/>
            <a:ext cx="22796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DynamoDB</a:t>
            </a:r>
          </a:p>
        </p:txBody>
      </p:sp>
      <p:pic>
        <p:nvPicPr>
          <p:cNvPr id="139" name="Graphic 17" descr="Amazon Connect service icon.">
            <a:extLst>
              <a:ext uri="{FF2B5EF4-FFF2-40B4-BE49-F238E27FC236}">
                <a16:creationId xmlns:a16="http://schemas.microsoft.com/office/drawing/2014/main" id="{1CC11810-36C1-981C-AF10-666189F665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/>
        </p:blipFill>
        <p:spPr bwMode="auto">
          <a:xfrm>
            <a:off x="9666299" y="4632938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0" name="TextBox 9">
            <a:extLst>
              <a:ext uri="{FF2B5EF4-FFF2-40B4-BE49-F238E27FC236}">
                <a16:creationId xmlns:a16="http://schemas.microsoft.com/office/drawing/2014/main" id="{6E17794C-A35F-88E5-356B-A495CA6DF4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6362" y="5394938"/>
            <a:ext cx="226853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Connect</a:t>
            </a:r>
          </a:p>
        </p:txBody>
      </p:sp>
      <p:cxnSp>
        <p:nvCxnSpPr>
          <p:cNvPr id="141" name="Straight Arrow Connector 15" descr="Arrow pointing from Third party Git repository to the AWS lambda service. ">
            <a:extLst>
              <a:ext uri="{FF2B5EF4-FFF2-40B4-BE49-F238E27FC236}">
                <a16:creationId xmlns:a16="http://schemas.microsoft.com/office/drawing/2014/main" id="{82C9C629-D29C-6A54-9FEA-D7553313CAF8}"/>
              </a:ext>
            </a:extLst>
          </p:cNvPr>
          <p:cNvCxnSpPr>
            <a:cxnSpLocks/>
          </p:cNvCxnSpPr>
          <p:nvPr/>
        </p:nvCxnSpPr>
        <p:spPr>
          <a:xfrm>
            <a:off x="5982264" y="4984347"/>
            <a:ext cx="1327903" cy="12397"/>
          </a:xfrm>
          <a:prstGeom prst="straightConnector1">
            <a:avLst/>
          </a:prstGeom>
          <a:ln w="15875">
            <a:solidFill>
              <a:srgbClr val="9BA7B6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Elbow Connector 25" descr="Elbow horizontal arrow pointing right (2).">
            <a:extLst>
              <a:ext uri="{FF2B5EF4-FFF2-40B4-BE49-F238E27FC236}">
                <a16:creationId xmlns:a16="http://schemas.microsoft.com/office/drawing/2014/main" id="{886106B1-B034-F315-5A5B-53335A61D102}"/>
              </a:ext>
            </a:extLst>
          </p:cNvPr>
          <p:cNvCxnSpPr>
            <a:cxnSpLocks/>
          </p:cNvCxnSpPr>
          <p:nvPr/>
        </p:nvCxnSpPr>
        <p:spPr>
          <a:xfrm flipV="1">
            <a:off x="5937777" y="2646185"/>
            <a:ext cx="1336216" cy="810528"/>
          </a:xfrm>
          <a:prstGeom prst="bentConnector3">
            <a:avLst>
              <a:gd name="adj1" fmla="val 50000"/>
            </a:avLst>
          </a:prstGeom>
          <a:ln w="15875">
            <a:solidFill>
              <a:srgbClr val="8FA7C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7372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988C6-7B88-F521-5976-6A3A04F70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7487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佈景主題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佈景主題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183</TotalTime>
  <Words>738</Words>
  <Application>Microsoft Office PowerPoint</Application>
  <PresentationFormat>寬螢幕</PresentationFormat>
  <Paragraphs>61</Paragraphs>
  <Slides>3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8" baseType="lpstr">
      <vt:lpstr>微軟正黑體</vt:lpstr>
      <vt:lpstr>Aptos</vt:lpstr>
      <vt:lpstr>Aptos Display</vt:lpstr>
      <vt:lpstr>Arial</vt:lpstr>
      <vt:lpstr>Office Theme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張祐誠</dc:creator>
  <cp:lastModifiedBy>張祐誠</cp:lastModifiedBy>
  <cp:revision>2</cp:revision>
  <dcterms:created xsi:type="dcterms:W3CDTF">2026-02-12T03:06:17Z</dcterms:created>
  <dcterms:modified xsi:type="dcterms:W3CDTF">2026-02-12T06:15:11Z</dcterms:modified>
</cp:coreProperties>
</file>